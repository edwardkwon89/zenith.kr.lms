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16459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SNTL 통합 물류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39C12"/>
                </a:solidFill>
                <a:latin typeface="맑은 고딕"/>
              </a:rPr>
              <a:t>UI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Wireframe &amp; Screen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FF"/>
                </a:solidFill>
                <a:latin typeface="맑은 고딕"/>
              </a:rPr>
              <a:t>AIR  ·  SEA  ·  CIR  ·  CCL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맑은 고딕"/>
              </a:rPr>
              <a:t>Version 1.0  |  2026-04-16  |  SNTL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14400"/>
            <a:ext cx="411480" cy="86868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960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로그인 /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25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86AB"/>
                </a:solidFill>
                <a:latin typeface="맑은 고딕"/>
              </a:rPr>
              <a:t>SCR-001 ~ SCR-005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344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회원가입, 로그인, ID/PW 찾기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91440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914400"/>
            <a:ext cx="411480" cy="86868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960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회원관리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325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7AE60"/>
                </a:solidFill>
                <a:latin typeface="맑은 고딕"/>
              </a:rPr>
              <a:t>SCR-010 ~ SCR-014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344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마이페이지, 회원정보 수정, 탈퇴, 법인관리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6596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965960"/>
            <a:ext cx="411480" cy="868680"/>
          </a:xfrm>
          <a:prstGeom prst="rect">
            <a:avLst/>
          </a:prstGeom>
          <a:solidFill>
            <a:srgbClr val="F39C1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0116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오더관리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3774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39C12"/>
                </a:solidFill>
                <a:latin typeface="맑은 고딕"/>
              </a:rPr>
              <a:t>SCR-020 ~ SCR-024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3957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오더 목록/등록/수정, 서비스 추가, 운송비용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6596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965960"/>
            <a:ext cx="411480" cy="86868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0116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마스터오더관리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3774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67E22"/>
                </a:solidFill>
                <a:latin typeface="맑은 고딕"/>
              </a:rPr>
              <a:t>SCR-030 ~ SCR-032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3957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마스터오더 목록/등록/패킹/상세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01752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017520"/>
            <a:ext cx="411480" cy="868680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0632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창고관리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44AD"/>
                </a:solidFill>
                <a:latin typeface="맑은 고딕"/>
              </a:rPr>
              <a:t>SCR-040 ~ SCR-042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344728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입고 처리, 출고 처리, 창고 현황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1752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017520"/>
            <a:ext cx="411480" cy="868680"/>
          </a:xfrm>
          <a:prstGeom prst="rect">
            <a:avLst/>
          </a:prstGeom>
          <a:solidFill>
            <a:srgbClr val="16A0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0632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운송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6A085"/>
                </a:solidFill>
                <a:latin typeface="맑은 고딕"/>
              </a:rPr>
              <a:t>SCR-050 ~ SCR-053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44728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AIR/SEA/CIR Tracking, 통관신고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69079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069079"/>
            <a:ext cx="411480" cy="868680"/>
          </a:xfrm>
          <a:prstGeom prst="rect">
            <a:avLst/>
          </a:prstGeom>
          <a:solidFill>
            <a:srgbClr val="D35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1479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회계/청구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48055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35400"/>
                </a:solidFill>
                <a:latin typeface="맑은 고딕"/>
              </a:rPr>
              <a:t>SCR-060 ~ SCR-065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44988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청구서, 입금, 세금계산서, 수입현황, 원가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069079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4069079"/>
            <a:ext cx="411480" cy="868680"/>
          </a:xfrm>
          <a:prstGeom prst="rect">
            <a:avLst/>
          </a:prstGeom>
          <a:solidFill>
            <a:srgbClr val="2C3E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411479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VOC 관리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48055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C3E50"/>
                </a:solidFill>
                <a:latin typeface="맑은 고딕"/>
              </a:rPr>
              <a:t>SCR-070 ~ SCR-072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4988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VOC 목록/등록/답변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12064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5120640"/>
            <a:ext cx="411480" cy="868680"/>
          </a:xfrm>
          <a:prstGeom prst="rect">
            <a:avLst/>
          </a:prstGeom>
          <a:solidFill>
            <a:srgbClr val="7F8C8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349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1663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고객지원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55321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맑은 고딕"/>
              </a:rPr>
              <a:t>SCR-080 ~ SCR-083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5176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QnA, FAQ, 공지사항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5120640"/>
            <a:ext cx="5577840" cy="868680"/>
          </a:xfrm>
          <a:prstGeom prst="rect">
            <a:avLst/>
          </a:prstGeom>
          <a:solidFill>
            <a:srgbClr val="F5F8F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5120640"/>
            <a:ext cx="411480" cy="86868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349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51663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맑은 고딕"/>
              </a:rPr>
              <a:t>관리자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2280" y="55321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latin typeface="맑은 고딕"/>
              </a:rPr>
              <a:t>SCR-090 ~ SCR-099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대시보드, 회원관리, 법인심사, 시스템관리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총 48개 화면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로그인 / 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Login &amp; Authentication  |  SCR-001 ~ SCR-005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SCR-001 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로그인/인증 &gt; 로그인  |  사용자: 전체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전체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미개발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463040"/>
            <a:ext cx="4754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맑은 고딕"/>
              </a:rPr>
              <a:t>SNTL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통합 물류 플랫폼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423160"/>
            <a:ext cx="4389120" cy="18288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5146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아이디 (ID)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697480"/>
            <a:ext cx="4206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2697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아이디 (ID)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01752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비밀번호 (Password)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200400"/>
            <a:ext cx="4206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5072" y="3200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비밀번호 (Password) 입력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3566160"/>
            <a:ext cx="4206240" cy="34747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35661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005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E86AB"/>
                </a:solidFill>
                <a:latin typeface="맑은 고딕"/>
              </a:rPr>
              <a:t>ID 찾기  |  PW 재설정  |  회원가입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4315968"/>
            <a:ext cx="4389120" cy="18288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43708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88"/>
                </a:solidFill>
                <a:latin typeface="맑은 고딕"/>
              </a:rPr>
              <a:t>소셜 로그인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4663440"/>
            <a:ext cx="1920240" cy="274320"/>
          </a:xfrm>
          <a:prstGeom prst="rect">
            <a:avLst/>
          </a:prstGeom>
          <a:solidFill>
            <a:srgbClr val="DB443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  Google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663440"/>
            <a:ext cx="1920240" cy="274320"/>
          </a:xfrm>
          <a:prstGeom prst="rect">
            <a:avLst/>
          </a:prstGeom>
          <a:solidFill>
            <a:srgbClr val="FEE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K  Kakao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1371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맑은 고딕"/>
              </a:rPr>
              <a:t>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1691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ID/PW 입력 로그인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1984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Google·Kakao OAuth2 소셜 로그인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22768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로그인 성공 시 JWT Access Token(30분) / Refresh Token(7일) 발급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2569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잘못된 자격증명 → 에러 메시지 표시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2862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비밀번호 마스킹 (표시/숨기기 토글)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166360"/>
            <a:ext cx="3200400" cy="41148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입고 이후 오더 수정·삭제 불가. 창고 입고 시 오더 상태 변경됨.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56692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연결 화면: SCR-002(ID찾기), SCR-003(PW재설정), SCR-004(개인회원가입), SCR-005(법인회원가입)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SCR-002  ID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로그인/인증 &gt; ID/PW 찾기  |  사용자: 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1417320"/>
            <a:ext cx="237744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개인회원 ID 찾기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417320"/>
            <a:ext cx="23774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맑은 고딕"/>
              </a:rPr>
              <a:t>법인회원 ID 찾기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709928"/>
            <a:ext cx="4754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8288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이름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011680"/>
            <a:ext cx="4206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20116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이름 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33172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생년월일 (YYYYMMDD)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514600"/>
            <a:ext cx="4206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25146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생년월일 (YYYYMMDD)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28346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휴대폰번호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017520"/>
            <a:ext cx="30175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5072" y="3017520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휴대폰번호 입력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60" y="2834640"/>
            <a:ext cx="1143000" cy="25603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283464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인증번호 발송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337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인증번호 6자리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3520440"/>
            <a:ext cx="4206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05072" y="35204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인증번호 6자리 입력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858768"/>
            <a:ext cx="4206240" cy="329184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85876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ID 찾기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2519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* SMS 인증 완료 후 아이디 표시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1371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맑은 고딕"/>
              </a:rPr>
              <a:t>주요 기능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1691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개인: 이름+생년월일+휴대폰 SMS 인증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1984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법인: 법인명+사업자번호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22768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중복 계정 존재 시 복수 ID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SCR-004  개인회원 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로그인/인증 &gt; 회원가입  |  사용자: 개인회원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개인회원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417320"/>
            <a:ext cx="1371600" cy="45720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STEP 1
본인확인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맑은 고딕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417320"/>
            <a:ext cx="1371600" cy="4572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STEP 2
정보입력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맑은 고딕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417320"/>
            <a:ext cx="1371600" cy="4572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STEP 3
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965960"/>
            <a:ext cx="5669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011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맑은 고딕"/>
              </a:rPr>
              <a:t>본인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42316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이름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60604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이름 입력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292608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생년월일 (YYYYMMDD)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10896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7872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생년월일 (YYYYMMDD) 입력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4290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휴대폰번호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611880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36118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휴대폰번호 입력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429000"/>
            <a:ext cx="1600200" cy="25603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3429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인증번호 발송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93192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인증번호 입력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411480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4114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인증번호 입력 입력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434840"/>
            <a:ext cx="2377440" cy="32004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인증 확인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434840"/>
            <a:ext cx="2651760" cy="32004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다음 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4846320"/>
            <a:ext cx="566928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4892040"/>
            <a:ext cx="54864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동일 휴대폰번호 중복가입 체크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맑은 고딕"/>
              </a:rPr>
              <a:t>주요 기능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1691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STEP 1: SMS 본인인증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1984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STEP 2: ID/PW/이메일/주소 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22768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STEP 3: 가입완료 + 로그인 이동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✓ 소셜 로그인 연동 가입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SCR-005  법인회원 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로그인/인증 &gt; 회원가입  |  사용자: 법인관리자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법인관리자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417320"/>
            <a:ext cx="5669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4630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맑은 고딕"/>
              </a:rPr>
              <a:t>법인회원 가입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92024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법인명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10312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2103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법인명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42316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사업자등록번호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60604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사업자등록번호 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92608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대표자명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10896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대표자명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42900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법인 이메일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61188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3611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법인 이메일 입력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93192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법인 연락처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114800"/>
            <a:ext cx="5120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4114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법인 연락처 입력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480560"/>
            <a:ext cx="512064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맑은 고딕"/>
              </a:rPr>
              <a:t>📎  사업자등록증 파일 첨부  (PDF/JPG, 최대 10MB)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5029200"/>
            <a:ext cx="5120640" cy="34747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029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가입 신청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20640"/>
            <a:ext cx="2743200" cy="41148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66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첨부파일 업로드 후 관리자 심사 → 승인 시 계정 활성화 + 알림 발송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F39C1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오더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Order Management  |  SCR-020 ~ SCR-024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SCR-020  오더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오더관리 &gt; 오더 기본관리  |  사용자: 회원 /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회원/운영자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417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  <a:latin typeface="맑은 고딕"/>
              </a:rPr>
              <a:t>검색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1389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오더번호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1572768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1572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오더번호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1389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회원명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572768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1572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회원명 입력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417320"/>
            <a:ext cx="1645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서비스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1417320"/>
            <a:ext cx="1645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상태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1417320"/>
            <a:ext cx="118872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1417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🔍 검색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1417320"/>
            <a:ext cx="1645920" cy="29260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1417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+ 오더 등록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오더번호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5930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25930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회원명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39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7539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29149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9149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운송구간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32370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2370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등록일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83980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3980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35590" y="214884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35590" y="214884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ORD-2026-00123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5930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1650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39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59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29149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4869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ICN→LAX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59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79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운송중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32370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78090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3980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9700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₩320,000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35590" y="240487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81310" y="240487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ORD-2026-00122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25930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71650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(주)ACME물산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77539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23259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SEA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29149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74869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PUS→SHA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759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79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창고입고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32370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78090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3980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29700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₩85,000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435590" y="2660904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81310" y="2660904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ORD-2026-00121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25930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71650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김영희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77539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23259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CIR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29149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74869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ICN→NRT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80759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26479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등록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2370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78090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83980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29700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₩45,000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435590" y="291693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481310" y="291693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ORD-2026-00120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725930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71650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이철수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77539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23259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CCL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29149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74869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ICN→LAX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080759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26479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통관중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32370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78090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3980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29700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₩12,000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435590" y="317296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481310" y="317296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ORD-2026-00119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725930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771650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박민준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77539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23259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29149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4869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ICN→FRA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59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26479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완료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32370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78090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983980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29700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₩280,000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435590" y="342900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81310" y="342900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00400" y="3749039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맑은 고딕"/>
              </a:rPr>
              <a:t>총 142건  |  ◀ 이전    1  2  3  ...  15    다음 ▶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4114800"/>
            <a:ext cx="640080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4160520"/>
            <a:ext cx="62179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회원은 본인 오더만 조회. 운영자/관리자는 전체 조회 가능.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SCR-021  오더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오더관리 &gt; 오더 기본관리  |  사용자: 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371600"/>
            <a:ext cx="557784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38988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📦 송하인 (Shipper)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75564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송하인명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938528"/>
            <a:ext cx="2468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1938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송하인명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17556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연락처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1938528"/>
            <a:ext cx="28346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1938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연락처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2585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국가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4144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2441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국가 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2258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우편번호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2441448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9072" y="2441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우편번호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2258568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주소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2441448"/>
            <a:ext cx="2651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2441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주소 입력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76148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상세주소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44368"/>
            <a:ext cx="53035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2944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상세주소 입력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371600"/>
            <a:ext cx="5852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1371600"/>
            <a:ext cx="5852160" cy="2743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138988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🏠 수하인 (Consignee)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75564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수하인명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1938528"/>
            <a:ext cx="2468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1938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수하인명 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1755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연락처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1938528"/>
            <a:ext cx="3108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68512" y="19385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연락처 입력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2585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국가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244144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08192" y="2441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국가 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2258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우편번호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2441448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8352" y="2441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우편번호 입력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22585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주소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2441448"/>
            <a:ext cx="29260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51392" y="24414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주소 입력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76148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상세주소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2944368"/>
            <a:ext cx="5669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29443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상세주소 입력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474720"/>
            <a:ext cx="11521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3474720"/>
            <a:ext cx="11521440" cy="27432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349300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📦 화물 정보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화물명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023360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40233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화물명 입력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0" y="3840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HS코드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0" y="4023360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16352" y="40233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HS코드 입력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63440" y="3840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총중량 (kg)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4023360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36592" y="40233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총중량 (kg) 입력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3840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CBM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4023360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40233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CBM 입력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3840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포장수량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4023360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9872" y="40233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포장수량 입력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9760" y="3840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화물가액 (USD)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4023360"/>
            <a:ext cx="2194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82912" y="4023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화물가액 (USD) 입력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434340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특이사항 / 비고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526280"/>
            <a:ext cx="112471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912" y="45262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특이사항 / 비고 입력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6800" y="5349240"/>
            <a:ext cx="1371600" cy="34747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0" y="5349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49840" y="5349240"/>
            <a:ext cx="1828800" cy="34747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49840" y="5349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서비스 추가 →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23760" y="5349240"/>
            <a:ext cx="1280160" cy="34747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23760" y="5349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취소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SCR-022  오더 상세 /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오더관리 &gt; 오더 기본관리  |  사용자: 회원 /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회원/운영자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오더번호: ORD-2026-00123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481328"/>
            <a:ext cx="548640" cy="20116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1481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481328"/>
            <a:ext cx="548640" cy="201168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481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맑은 고딕"/>
              </a:rPr>
              <a:t>등록일: 2026-04-10 14:32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1920240"/>
            <a:ext cx="3749039" cy="256032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19385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송하인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이름: 홍길동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연락처: 010-1234-5678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2880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국가: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주소: 서울 강남구 테헤란로 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19202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1920240"/>
            <a:ext cx="3749039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19385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수하인 정보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이름: John 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연락처: +1-310-xxx-xxxx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2880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국가: 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주소: 123 Main St, Los Angeles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9202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1920240"/>
            <a:ext cx="3749039" cy="256032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19385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화물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화물명: 전자부품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HS코드: 8542.31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880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중량: 25.5 kg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CBM: 0.12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840480"/>
            <a:ext cx="11612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3840480"/>
            <a:ext cx="116128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서비스 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서비스유형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33302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33302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출발지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2285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2285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목적지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1268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51268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출발일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0251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10251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도착예정일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69234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69234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28217" y="4114800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28217" y="4114800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33302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79022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ICN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92285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38005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LAX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51268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96988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10251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55971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2026-04-14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69234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14954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₩320,000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8217" y="4370832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73937" y="4370832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운송중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5650992"/>
            <a:ext cx="1280160" cy="32004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0" y="56509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수정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0" y="5650992"/>
            <a:ext cx="1097280" cy="32004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58400" y="5650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삭제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5650992"/>
            <a:ext cx="2103120" cy="32004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5650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+ 서비스 추가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5650992"/>
            <a:ext cx="5943600" cy="347472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69671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입고(창고 수령) 이후 수정·삭제 불가. 버튼 비활성화 처리.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SCR-023  서비스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오더관리 &gt; 서비스 관리  |  사용자: 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1417320"/>
            <a:ext cx="1920240" cy="34747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1417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AIR 항운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417320"/>
            <a:ext cx="1920240" cy="34747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417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SEA 해운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417320"/>
            <a:ext cx="1920240" cy="34747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17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CIR 택배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417320"/>
            <a:ext cx="1920240" cy="34747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17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CCL 통관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1764792"/>
            <a:ext cx="8046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181051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맑은 고딕"/>
              </a:rPr>
              <a:t>AIR 항운 서비스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22402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출발 공항 (IATA코드)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423160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24231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출발 공항 (IATA코드) 입력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2402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도착 공항 (IATA코드)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423160"/>
            <a:ext cx="3931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2423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도착 공항 (IATA코드) 입력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2743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항공사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2926080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3472" y="29260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항공사 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7432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MAWB번호 (Master Air Waybill)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26080"/>
            <a:ext cx="3931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29260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MAWB번호 (Master Air Waybill) 입력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3246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HAWB번호 (House Air Waybill)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29000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33472" y="3429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HAWB번호 (House Air Waybill) 입력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246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출발 예정일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29000"/>
            <a:ext cx="3931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34290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출발 예정일 입력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3749039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도착 예정일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931920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33472" y="39319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도착 예정일 입력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374903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특이사항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931920"/>
            <a:ext cx="3931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39319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특이사항 입력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5029200"/>
            <a:ext cx="1920240" cy="34747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5029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5029200"/>
            <a:ext cx="1828800" cy="34747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0292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166360"/>
            <a:ext cx="1828800" cy="45720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서비스 유형별로 입력 항목이 다름. 하나의 오더에 최대 4가지 서비스 추가 가능.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마스터오더 / 창고관리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Master Order &amp; Warehouse  |  SCR-030 ~ SCR-042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SCR-031  마스터오더 등록 / 패킹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마스터오더관리 &gt; 마스터오더 등록  |  사용자: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38988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마스터오더 기본정보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73736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마스터오더번호 (자동생성)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920240"/>
            <a:ext cx="4754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19202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마스터오더번호 (자동생성)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2402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운송 서비스 유형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23160"/>
            <a:ext cx="4754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4231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운송 서비스 유형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743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출발지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26080"/>
            <a:ext cx="21031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29260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출발지 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2743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목적지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926080"/>
            <a:ext cx="2468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2926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목적지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246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출발 예정일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429000"/>
            <a:ext cx="21031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42900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출발 예정일 입력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32461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도착 예정일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429000"/>
            <a:ext cx="2468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34290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도착 예정일 입력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3749039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비고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931920"/>
            <a:ext cx="4754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비고 입력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97680"/>
            <a:ext cx="4754880" cy="34747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2976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마스터오더 생성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1371600"/>
            <a:ext cx="6446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40680" y="1371600"/>
            <a:ext cx="6446520" cy="2743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1389888"/>
            <a:ext cx="6217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오더 패킹 (Order Packing)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17190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E3A5F"/>
                </a:solidFill>
                <a:latin typeface="맑은 고딕"/>
              </a:rPr>
              <a:t>오더 검색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19019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오더번호 또는 회원명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084832"/>
            <a:ext cx="4114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05272" y="20848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오더번호 또는 회원명 입력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38360" y="1901952"/>
            <a:ext cx="10972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1901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32120" y="2231136"/>
            <a:ext cx="1243584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2120" y="223113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선택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75704" y="2231136"/>
            <a:ext cx="1243584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75704" y="223113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오더번호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9288" y="2231136"/>
            <a:ext cx="1243584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19288" y="223113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회원명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62872" y="2231136"/>
            <a:ext cx="1243584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62872" y="223113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06455" y="2231136"/>
            <a:ext cx="1243584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06455" y="223113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중량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2487168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0" y="2487168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75704" y="2487168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21424" y="2487168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19288" y="2487168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65008" y="2487168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62872" y="2487168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8592" y="2487168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06455" y="2487168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52176" y="2487168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12kg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32120" y="2724912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77840" y="2724912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75704" y="2724912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21424" y="2724912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19288" y="2724912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65008" y="2724912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(주)ACME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62872" y="2724912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8592" y="2724912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06455" y="2724912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52176" y="2724912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45kg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32120" y="2962656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2962656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☑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75704" y="2962656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21424" y="2962656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ORD-0126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19288" y="2962656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65008" y="2962656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김영희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62872" y="2962656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08592" y="2962656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06455" y="2962656"/>
            <a:ext cx="1243584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52176" y="2962656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8kg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32120" y="32004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77840" y="3200400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☑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75704" y="32004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21424" y="3200400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ORD-0127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19288" y="32004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65008" y="3200400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이철수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62872" y="32004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08592" y="3200400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506455" y="32004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52176" y="3200400"/>
            <a:ext cx="11521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22kg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32120" y="3493008"/>
            <a:ext cx="2926080" cy="29260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32120" y="34930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+ 패킹 추가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49640" y="3493008"/>
            <a:ext cx="2377440" cy="29260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549640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패킹 제거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32120" y="385876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E3A5F"/>
                </a:solidFill>
                <a:latin typeface="맑은 고딕"/>
              </a:rPr>
              <a:t>현재 패킹된 오더: 2개  /  총 중량: 30kg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32120" y="4206240"/>
            <a:ext cx="6217920" cy="347472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623559" y="4251959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패킹된 오더는 단독 수정·삭제 불가. 마스터오더 단위로 처리.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315200" y="4663440"/>
            <a:ext cx="3474720" cy="347472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15200" y="4663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패킹 완료 저장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SCR-040  창고 입고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창고관리 &gt; 입고 관리  |  사용자: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371600"/>
            <a:ext cx="548640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38988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바코드 스캔 / 오더 직접 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1783080"/>
            <a:ext cx="4572000" cy="228600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[ 바코드 스캔 영역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📷 카메라/스캐너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33087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맑은 고딕"/>
              </a:rPr>
              <a:t>— 또는 직접 입력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074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오더번호 직접 입력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90288"/>
            <a:ext cx="3474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59028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오더번호 직접 입력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407408"/>
            <a:ext cx="118872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44074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조회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371600"/>
            <a:ext cx="5852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1371600"/>
            <a:ext cx="5852160" cy="27432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38988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입고 확인 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737360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7373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오더번호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737360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17373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ORD-2026-00123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029968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029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마스터오더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029968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2029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MORD-2026-001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322576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322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회원명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322576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23225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615184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2615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2615184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26151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AIR (ICN→LAX)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2907792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907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화물명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2907792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29077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전자부품 12kg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200400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3200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현재 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3200400"/>
            <a:ext cx="3657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92440" y="32004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등록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58444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입고 담당자 메모 (선택)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3767328"/>
            <a:ext cx="5669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37673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입고 담당자 메모 (선택) 입력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4224528"/>
            <a:ext cx="5669280" cy="41148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40" y="4224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✓  입고 처리 확인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709160"/>
            <a:ext cx="5669280" cy="36576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입고 처리 후 오더 상태 → "창고입고". 이후 수정·삭제 불가.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SCR-041  창고 출고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창고관리 &gt; 출고 관리  |  사용자: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371600"/>
            <a:ext cx="548640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38988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출고 대상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737360"/>
            <a:ext cx="109728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선택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1737360"/>
            <a:ext cx="109728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마스터오더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79" y="1737360"/>
            <a:ext cx="109728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79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오더수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59" y="1737360"/>
            <a:ext cx="109728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59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운송장출력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993392"/>
            <a:ext cx="109728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993392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1993392"/>
            <a:ext cx="109728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1993392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MORD-001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79" y="1993392"/>
            <a:ext cx="109728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599" y="1993392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59" y="1993392"/>
            <a:ext cx="109728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1879" y="1993392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AIR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1993392"/>
            <a:ext cx="109728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59" y="1993392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출력전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231136"/>
            <a:ext cx="10972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2231136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2231136"/>
            <a:ext cx="10972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17320" y="2231136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MORD-002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79" y="2231136"/>
            <a:ext cx="10972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599" y="2231136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59" y="2231136"/>
            <a:ext cx="10972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79" y="2231136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SEA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31136"/>
            <a:ext cx="10972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59" y="2231136"/>
            <a:ext cx="1005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출력전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578608"/>
            <a:ext cx="2560320" cy="32004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🖨 운송장 출력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2578608"/>
            <a:ext cx="2560320" cy="32004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출고 처리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1371600"/>
            <a:ext cx="5852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1371600"/>
            <a:ext cx="5852160" cy="27432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138988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운송장 미리보기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737360"/>
            <a:ext cx="54864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맑은 고딕"/>
              </a:rPr>
              <a:t>SNTL LOGISTICS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AIR WAYBILL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발송인: 홍길동  KR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29077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AWBN: 123-4567-8901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2552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수취인: John Smith  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3602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내용물: 전자부품  12kg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3950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서비스: AIR EXPRESS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4389120"/>
            <a:ext cx="4114800" cy="640080"/>
          </a:xfrm>
          <a:prstGeom prst="rect">
            <a:avLst/>
          </a:prstGeom>
          <a:solidFill>
            <a:srgbClr val="2222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||||||||  ORD-2026-00123  ||||||||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6A0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운송 Tracking / 회계·청구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Tracking &amp; Billing  |  SCR-050 ~ SCR-065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SCR-050  AIR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운송Tracking &gt; 항운(AIR) Tracking  |  사용자: 회원 /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회원/운영자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389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AWB번호 또는 오더번호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72768"/>
            <a:ext cx="3657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5727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AWB번호 또는 오더번호 입력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417320"/>
            <a:ext cx="1371600" cy="32004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🔍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481328"/>
            <a:ext cx="548640" cy="201168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1481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AIR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81328"/>
            <a:ext cx="1097280" cy="20116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4813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ICN → LAX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481328"/>
            <a:ext cx="548640" cy="20116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481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운송중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920240"/>
            <a:ext cx="11612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맑은 고딕"/>
              </a:rPr>
              <a:t>운송 현황 타임라인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331720"/>
            <a:ext cx="274320" cy="27432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35000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2026-04-10 09:00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23500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화물 접수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235000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ICN 창고 입고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" y="2606039"/>
            <a:ext cx="36576" cy="16459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2770632"/>
            <a:ext cx="274320" cy="27432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770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788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2026-04-11 14:30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27889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출항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278892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KE 123편 인천공항 출발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3044951"/>
            <a:ext cx="36576" cy="16459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3209544"/>
            <a:ext cx="274320" cy="27432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2278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2026-04-13 08:00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32278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경유지 도착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322783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ORD 공항 트랜짓 처리 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" y="3483863"/>
            <a:ext cx="36576" cy="16459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3648456"/>
            <a:ext cx="274320" cy="27432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6484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6667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2026-04-14 예정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36667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목적지 도착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366674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LAX 공항 도착 예정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" y="3922776"/>
            <a:ext cx="36576" cy="16459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4087368"/>
            <a:ext cx="274320" cy="27432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087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105655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2026-04-15 예정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4105655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통관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105655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세관 통관 처리 예정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" y="4361688"/>
            <a:ext cx="36576" cy="164592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4526279"/>
            <a:ext cx="274320" cy="27432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5262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54456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2026-04-15 예정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26080" y="4544567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배송완료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0" y="4544567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맑은 고딕"/>
              </a:rPr>
              <a:t>수취인 인도 예정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468112"/>
            <a:ext cx="1161288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5513832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외부 항공사 API 연동으로 실시간 조회. 5분 주기 자동 갱신.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SCR-060  청구서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회계/청구 &gt; 청구서 관리  |  사용자: 운영자 / 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운영자/회원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399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청구서번호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81912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5819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청구서번호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1399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회원명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1581912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15819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회원명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1399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기간 FROM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1581912"/>
            <a:ext cx="1645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15819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기간 FROM 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399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기간 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581912"/>
            <a:ext cx="1645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6752" y="15819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기간 TO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1417320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상태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417320"/>
            <a:ext cx="109728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1417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417320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417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청구서 생성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청구서번호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4640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64640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회원명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54959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54959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오더수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5279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45279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청구금액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5599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5599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입금액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5920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5920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미수금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16239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16239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청구일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6560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06560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96880" y="2011680"/>
            <a:ext cx="1290319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96880" y="2011680"/>
            <a:ext cx="1290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INV-2026-0045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64640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10360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54959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00679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45279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90999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₩650,000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35599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1319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₩650,000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25920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71639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16239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61960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6560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52280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완납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96880" y="2267712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42600" y="2267712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INV-2026-0044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64640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10360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(주)ACME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54959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00679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12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45279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90999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₩3,200,000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35599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1319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₩1,600,000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25920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71639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₩1,600,000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16239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61960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06560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52280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미납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96880" y="2523744"/>
            <a:ext cx="1290319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42600" y="2523744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INV-2026-0043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64640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10360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김영희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54959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00679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45279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90999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₩85,000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35599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1319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25920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71639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₩85,000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16239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61960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2026-03-31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306560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52280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미납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596880" y="2779776"/>
            <a:ext cx="1290319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642600" y="2779776"/>
            <a:ext cx="119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3108960"/>
            <a:ext cx="11612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200" y="3154680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7200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맑은 고딕"/>
              </a:rPr>
              <a:t>총 청구금액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₩42,850,000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37560" y="3154680"/>
            <a:ext cx="2651760" cy="59436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37560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맑은 고딕"/>
              </a:rPr>
              <a:t>총 입금액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3756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₩38,200,000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17920" y="3154680"/>
            <a:ext cx="2651760" cy="59436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17920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맑은 고딕"/>
              </a:rPr>
              <a:t>총 미수금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1792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₩4,650,000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098280" y="3154680"/>
            <a:ext cx="2651760" cy="59436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98280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맑은 고딕"/>
              </a:rPr>
              <a:t>청구서 건수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9828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45건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관리자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Admin System  |  SCR-090 ~ SCR-099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SCR-090  관리자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관리자 &gt; 통계 관리  |  사용자: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관리자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417320"/>
            <a:ext cx="26974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417320"/>
            <a:ext cx="2697480" cy="73152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이번달 오더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142건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2128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▲ 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79" y="1417320"/>
            <a:ext cx="26974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54679" y="1417320"/>
            <a:ext cx="2697480" cy="7315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이번달 수익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맑은 고딕"/>
              </a:rPr>
              <a:t>₩32.5M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2128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▲ 8.3%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417320"/>
            <a:ext cx="26974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417320"/>
            <a:ext cx="2697480" cy="73152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79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처리중 오더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맑은 고딕"/>
              </a:rPr>
              <a:t>37건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9" y="22128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─ 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1417320"/>
            <a:ext cx="26974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400" y="14173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미수금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₩4.65M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2128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▼ 2.1%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56032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2560320"/>
            <a:ext cx="557784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5786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월별 오더/수익 현황 (Bar Chart)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49040"/>
            <a:ext cx="320040" cy="109728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2" y="4023360"/>
            <a:ext cx="320040" cy="82296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1월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17319" y="3474720"/>
            <a:ext cx="320040" cy="13716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764791" y="3840480"/>
            <a:ext cx="320040" cy="100584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19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2월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3200400"/>
            <a:ext cx="320040" cy="16459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42032" y="3566160"/>
            <a:ext cx="320040" cy="128016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94560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3월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1800" y="2926080"/>
            <a:ext cx="320040" cy="192024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19272" y="3291840"/>
            <a:ext cx="320040" cy="155448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71800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4월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3383280"/>
            <a:ext cx="320040" cy="146304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96511" y="3657600"/>
            <a:ext cx="320040" cy="11887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49039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5월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3108960"/>
            <a:ext cx="320040" cy="17373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3752" y="3474720"/>
            <a:ext cx="320040" cy="137160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26280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맑은 고딕"/>
              </a:rPr>
              <a:t>6월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2560320"/>
            <a:ext cx="5760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35040" y="2560320"/>
            <a:ext cx="5760720" cy="2743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257860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서비스별 오더 비중 (Pie Chart)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2926080"/>
            <a:ext cx="228600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[ Pie Chart 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0" y="3017520"/>
            <a:ext cx="228600" cy="2286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4692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AIR: 45%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3520439"/>
            <a:ext cx="228600" cy="22860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46920" y="35204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SEA: 28%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0" y="4023360"/>
            <a:ext cx="228600" cy="22860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46920" y="40233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CIR: 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4526280"/>
            <a:ext cx="228600" cy="22860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6920" y="4526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CCL: 9%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SCR-091  회원 목록 /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관리자 &gt; 회원관리  |  사용자: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관리자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3990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회원명 또는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81912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5819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회원명 또는 ID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13990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이메일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1581912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15819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이메일 입력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417320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회원유형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417320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상태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1417320"/>
            <a:ext cx="109728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1417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1417320"/>
            <a:ext cx="1920240" cy="29260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417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엑셀 다운로드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회원ID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25930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25930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회원명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77539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7539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유형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29149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9149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이메일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59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59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가입일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32370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2370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83980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83980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35590" y="2057400"/>
            <a:ext cx="145161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35590" y="205740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MEM-0001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25930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71650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7539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23259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개인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29149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4869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hong@email.com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59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79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2026-01-15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32370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8090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BRONZE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3980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29700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정상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35590" y="2313432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81310" y="2313432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MEM-0002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25930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71650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(주)ACME물산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77539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23259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법인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29149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74869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admin@acme.com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0759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79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2026-02-10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32370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8090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GOLD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3980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29700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정상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35590" y="2569463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81310" y="2569463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MEM-0003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25930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71650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김영희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77539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23259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개인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29149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74869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kim@email.com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80759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26479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2026-03-05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32370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78090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SILVER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3980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29700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정상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35590" y="2825496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81310" y="2825496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MEM-0004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25930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71650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(주)신흥무역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7539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23259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법인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29149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74869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info@shin.com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80759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26479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32370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78090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3980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29700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심사중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435590" y="3081528"/>
            <a:ext cx="145161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481310" y="3081528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심사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MEM-0005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725930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771650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이철수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177539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23259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개인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29149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74869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lee@email.com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80759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26479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2026-04-12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32370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78090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BRONZE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83980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9700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정지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435590" y="3337560"/>
            <a:ext cx="1451610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481310" y="3337560"/>
            <a:ext cx="136016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3703320"/>
            <a:ext cx="640080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60" y="3749039"/>
            <a:ext cx="62179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법인회원 상태 "심사중" → SCR-092 법인심사 화면으로 이동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SCR-092  법인회원 심사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관리자 &gt; 회원관리  |  사용자: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SCR-092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관리자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371600"/>
            <a:ext cx="5303520" cy="2743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신청 법인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737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법인명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1737360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1737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(주)신흥무역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084831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0848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사업자번호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2084831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208483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123-45-67890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432304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4323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대표자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2432304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24323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박대표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79776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7797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법인이메일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2779776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27797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info@shin.com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127248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127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신청일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3127248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5880" y="3127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2026-04-12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47472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474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3474720"/>
            <a:ext cx="420624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3474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심사중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1371600"/>
            <a:ext cx="60350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60720" y="1371600"/>
            <a:ext cx="6035040" cy="27432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1389888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사업자등록증 첨부파일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1737360"/>
            <a:ext cx="58521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74320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PDF 미리보기 영역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86AB"/>
                </a:solidFill>
                <a:latin typeface="맑은 고딕"/>
              </a:rPr>
              <a:t>사업자등록증.pdf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4983480"/>
            <a:ext cx="256032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9834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파일 다운로드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760720"/>
            <a:ext cx="2286000" cy="38404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760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✅  승인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5760720"/>
            <a:ext cx="2286000" cy="38404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34640" y="5760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❌  거부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5760720"/>
            <a:ext cx="6035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57790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거부 사유 입력 (거부 시 필수)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245352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승인 시 법인 계정 활성화 + 담당자 이메일/앱 알림 자동 발송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C3E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맑은 고딕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VOC / 고객지원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9C12"/>
                </a:solidFill>
                <a:latin typeface="맑은 고딕"/>
              </a:rPr>
              <a:t>VOC &amp; Support  |  SCR-070 ~ SCR-083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SCR-070  VOC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VOC관리 &gt; VOC 조회  |  사용자: 회원 / 운영자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39C12"/>
                </a:solidFill>
                <a:latin typeface="맑은 고딕"/>
              </a:rPr>
              <a:t>SCR-070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14400"/>
            <a:ext cx="1179576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SCR-070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회원/운영자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05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1645919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1554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71600"/>
            <a:ext cx="11612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3990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오더번호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81912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5819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오더번호 입력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417320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처리상태 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399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등록일 FROM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581912"/>
            <a:ext cx="1645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15819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등록일 FROM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399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등록일 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581912"/>
            <a:ext cx="1645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5819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등록일 TO 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417320"/>
            <a:ext cx="1097280" cy="292608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1417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417320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417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+ VOC 등록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VOC번호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33302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33302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오더번호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92285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92285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등록자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1268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1268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제목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10251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0251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등록일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69234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9234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처리상태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28217" y="1993392"/>
            <a:ext cx="1658982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28217" y="1993392"/>
            <a:ext cx="16589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VOC-001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33302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79022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92285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38005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홍길동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1268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96988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배송 지연 문의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10251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55971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69234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14954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IN_PROGRESS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28217" y="2249424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73937" y="2249424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답변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VOC-002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33302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79022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92285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38005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김영희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1268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96988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화물 파손 신고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10251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55971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69234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14954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OPEN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28217" y="2505456"/>
            <a:ext cx="165898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73937" y="2505456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답변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VOC-003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33302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79022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ORD-0109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92285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38005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이철수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51268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96988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운송비 오청구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10251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55971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2026-04-05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69234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14954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CLOSED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228217" y="2761488"/>
            <a:ext cx="1658982" cy="219456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73937" y="2761488"/>
            <a:ext cx="15675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맑은 고딕"/>
              </a:rPr>
              <a:t>상세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108960"/>
            <a:ext cx="11612880" cy="320040"/>
          </a:xfrm>
          <a:prstGeom prst="rect">
            <a:avLst/>
          </a:prstGeom>
          <a:solidFill>
            <a:srgbClr val="FFFFD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3154679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64400"/>
                </a:solidFill>
                <a:latin typeface="맑은 고딕"/>
              </a:rPr>
              <a:t>📌 회원은 본인 VOC만 조회 가능. 운영자는 전체 조회/처리 가능.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화면 흐름도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Screen Flow Diagram — 회원 주요 업무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68680"/>
            <a:ext cx="11795760" cy="55778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144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회원 주요 업무 흐름 (User Flow)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737360" cy="82296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SCR-004
개인회원가입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417320"/>
            <a:ext cx="1737360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SCR-001
로그인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737360" cy="822960"/>
          </a:xfrm>
          <a:prstGeom prst="rect">
            <a:avLst/>
          </a:prstGeom>
          <a:solidFill>
            <a:srgbClr val="F39C1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SCR-020
오더 목록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417320"/>
            <a:ext cx="1737360" cy="82296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SCR-021
오더 등록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417320"/>
            <a:ext cx="1737360" cy="82296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SCR-023
서비스 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926080"/>
            <a:ext cx="1737360" cy="822960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SCR-040
창고 입고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926080"/>
            <a:ext cx="1737360" cy="822960"/>
          </a:xfrm>
          <a:prstGeom prst="rect">
            <a:avLst/>
          </a:prstGeom>
          <a:solidFill>
            <a:srgbClr val="16A0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SCR-041
창고 출고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926080"/>
            <a:ext cx="1737360" cy="822960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SCR-050
AIR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2926080"/>
            <a:ext cx="1737360" cy="82296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SCR-060
청구서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26080"/>
            <a:ext cx="1737360" cy="822960"/>
          </a:xfrm>
          <a:prstGeom prst="rect">
            <a:avLst/>
          </a:prstGeom>
          <a:solidFill>
            <a:srgbClr val="2C3E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SCR-070
VOC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맑은 고딕"/>
              </a:rPr>
              <a:t>관리자 흐름: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1737360" cy="73152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48055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SCR-090
대시보드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434840"/>
            <a:ext cx="1737360" cy="73152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0" y="448055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SCR-091
회원관리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434840"/>
            <a:ext cx="1737360" cy="731520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448055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SCR-092
법인심사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4434840"/>
            <a:ext cx="1737360" cy="731520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48055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SCR-031
마스터오더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434840"/>
            <a:ext cx="1737360" cy="731520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448055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SCR-065
원가관리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7091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47091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7091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9" y="47091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화면 목록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EE"/>
                </a:solidFill>
                <a:latin typeface="맑은 고딕"/>
              </a:rPr>
              <a:t>Screen List Summary  |  총 48개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맑은 고딕"/>
              </a:rPr>
              <a:t>SNTL 통합물류플랫폼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BBCC"/>
                </a:solidFill>
                <a:latin typeface="맑은 고딕"/>
              </a:rPr>
              <a:t>SNTL 통합 물류 플랫폼 — UI 화면설계서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맑은 고딕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11795760" cy="55778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5577840" cy="256032"/>
          </a:xfrm>
          <a:prstGeom prst="rect">
            <a:avLst/>
          </a:prstGeom>
          <a:solidFill>
            <a:srgbClr val="2E86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60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로그인/인증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SCR-001 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41732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SCR-002 ID찾기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6002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SCR-003 PW재설정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78308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SCR-004 개인회원가입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96596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SCR-005 법인회원가입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960120"/>
            <a:ext cx="5577840" cy="25603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9" y="960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회원관리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2344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SCR-010 마이페이지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41732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SCR-011 회원정보수정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SCR-012 회원탈퇴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8308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SCR-013 법인마이페이지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SCR-014 부서/멤버관리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057400"/>
            <a:ext cx="5577840" cy="256032"/>
          </a:xfrm>
          <a:prstGeom prst="rect">
            <a:avLst/>
          </a:prstGeom>
          <a:solidFill>
            <a:srgbClr val="F39C1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57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오더관리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233172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SCR-020 오더목록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25146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SCR-021 오더등록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269747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SCR-022 오더상세/수정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288036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SCR-023 서비스추가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06323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SCR-024 운송비용조회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057400"/>
            <a:ext cx="5577840" cy="256032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2057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마스터오더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33172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SCR-030 마스터오더목록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5146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SCR-031 마스터오더등록/패킹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69747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SCR-032 마스터오더상세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154680"/>
            <a:ext cx="5577840" cy="256032"/>
          </a:xfrm>
          <a:prstGeom prst="rect">
            <a:avLst/>
          </a:prstGeom>
          <a:solidFill>
            <a:srgbClr val="8E44A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154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창고관리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34290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SCR-040 입고처리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361188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SCR-041 출고처리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379476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SCR-042 창고현황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154680"/>
            <a:ext cx="5577840" cy="256032"/>
          </a:xfrm>
          <a:prstGeom prst="rect">
            <a:avLst/>
          </a:prstGeom>
          <a:solidFill>
            <a:srgbClr val="16A0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3154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운송Tracking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4290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SCR-050 AIR Tracking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61188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SCR-051 SEA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79476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SCR-052 CIR Tracking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97763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SCR-053 통관신고현황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251959"/>
            <a:ext cx="5577840" cy="256032"/>
          </a:xfrm>
          <a:prstGeom prst="rect">
            <a:avLst/>
          </a:prstGeom>
          <a:solidFill>
            <a:srgbClr val="D35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2519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회계/청구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452627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SCR-060 청구서목록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470915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SCR-061 청구서상세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79" y="48920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SCR-062 입금처리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79" y="507491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SCR-063 세금계산서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79" y="525779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SCR-064 수입/비용현황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79" y="544067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SCR-065 운송원가관리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251959"/>
            <a:ext cx="5577840" cy="256032"/>
          </a:xfrm>
          <a:prstGeom prst="rect">
            <a:avLst/>
          </a:prstGeom>
          <a:solidFill>
            <a:srgbClr val="2C3E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59" y="42519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VOC관리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452627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SCR-070 VOC목록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70915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SCR-071 VOC등록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8920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SCR-072 VOC답변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9240"/>
            <a:ext cx="5577840" cy="256032"/>
          </a:xfrm>
          <a:prstGeom prst="rect">
            <a:avLst/>
          </a:prstGeom>
          <a:solidFill>
            <a:srgbClr val="7F8C8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349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고객지원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79" y="5623559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SCR-080 QnA목록/등록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79" y="58064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SCR-081 QnA답변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79" y="598932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SCR-082 FAQ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79" y="617220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SCR-083 공지사항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446520"/>
            <a:ext cx="5577840" cy="25603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관리자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79" y="6720840"/>
            <a:ext cx="5440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2222"/>
                </a:solidFill>
                <a:latin typeface="맑은 고딕"/>
              </a:rPr>
              <a:t>• SCR-090~099 (대시보드,회원,법인심사,메뉴,코드,권한,택배사,알림,통계,백업)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